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95"/>
    <p:restoredTop sz="94660"/>
  </p:normalViewPr>
  <p:slideViewPr>
    <p:cSldViewPr snapToGrid="0">
      <p:cViewPr varScale="1">
        <p:scale>
          <a:sx d="100" n="69"/>
          <a:sy d="100" n="69"/>
        </p:scale>
        <p:origin x="1234" y="27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notesViewPr>
    <p:cSldViewPr snapToGrid="0">
      <p:cViewPr varScale="1">
        <p:scale>
          <a:sx d="100" n="65"/>
          <a:sy d="100" n="65"/>
        </p:scale>
        <p:origin x="2784" y="48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Relationship Id="rId1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8" Type="http://schemas.openxmlformats.org/officeDocument/2006/relationships/presProps" Target="presProps.xml" /><Relationship Id="rId17" Type="http://schemas.openxmlformats.org/officeDocument/2006/relationships/handoutMaster" Target="handoutMasters/handout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10/15/2025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opening slide frames the session as high-level and practical.</a:t>
            </a:r>
            <a:br/>
            <a:r>
              <a:rPr/>
              <a:t>Emphasize that the Enhanced ACT is not just a Science tweak; it changes how scores are calculated and reported, which affects strategy, messaging, and scholarship planning.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Stress that we’ll: - Give counselors a concise overview, not a deep psychometrics seminar. - Focus on the practical “What should I tell this family?” questions. - Hit Florida Bright Futures specifically because it’s new and affects many of our families.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Set expectations: about 15 minutes today, with this deck and notes available later for anyone who can’t attend or wants a deeper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this slide to keep your intro short but reassuring.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Pull highlights from your resume: - Long tenure in education and test prep across standardized exams. - Experience designing curricula, training other tutors, and working with diverse learners (including neurodivergent students). - Leadership role at On the Rise Education, which shows you understand both pedagogy and program design.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Key message to the team: - I’m not just “the test guy”; I’m someone who can help you interpret fast-changing policies and build realistic testing plans for real students. - Invite them explicitly: “If you’re unsure whether a student should add ACT Science, or how to read two different ACT score reports, please reach out. I’d rather help early than fix something late.”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gives the high-level “what changed” beyond just Science: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Enhanced ACT shortens the test and simplifies the composite by focusing only on English, Math, and Reading.</a:t>
            </a:r>
          </a:p>
          <a:p>
            <a:pPr lvl="0" indent="0" marL="0">
              <a:buNone/>
            </a:pPr>
          </a:p>
          <a:p>
            <a:pPr lvl="0"/>
            <a:r>
              <a:rPr/>
              <a:t>Science becomes optional but lives alongside Math in the STEM score.</a:t>
            </a:r>
          </a:p>
          <a:p>
            <a:pPr lvl="0" indent="0" marL="0">
              <a:buNone/>
            </a:pPr>
          </a:p>
          <a:p>
            <a:pPr lvl="0"/>
            <a:r>
              <a:rPr/>
              <a:t>Superscoring has changed: ACT’s official Superscore ignores Science. This matters for how colleges see “best scores.”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Stress that: - From a student/family perspective, ACT is no longer a single fixed package; it’s more customizable. - From a counseling perspective, that customization introduces </a:t>
            </a:r>
            <a:r>
              <a:rPr b="1"/>
              <a:t>new strategic decisions</a:t>
            </a:r>
            <a:r>
              <a:rPr/>
              <a:t> and </a:t>
            </a:r>
            <a:r>
              <a:rPr b="1"/>
              <a:t>new policy noise</a:t>
            </a:r>
            <a:r>
              <a:rPr/>
              <a:t>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You don’t need to recite timing minutiae; just make clear that: - Spring 2025 = start of the new era. - By the time current sophomores/juniors are testing, Enhanced ACT will be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Here, emphasize the “feel” of Science relative to students’ experience: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content and skills of ACT Science are largely unchanged: interpreting charts, graphs, and experimental setups, not long biology lectures.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big shift is </a:t>
            </a:r>
            <a:r>
              <a:rPr b="1"/>
              <a:t>policy and math</a:t>
            </a:r>
            <a:r>
              <a:rPr/>
              <a:t>, not the nature of questions.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Counseling implications: - A weak Science score no longer drags down the composite or the ACT Superscore. - A strong Science score can create a </a:t>
            </a:r>
            <a:r>
              <a:rPr b="1"/>
              <a:t>nice STEM story</a:t>
            </a:r>
            <a:r>
              <a:rPr/>
              <a:t>: strong Math + Science, good for engineering, pre-med, etc. - Students may assume “optional” = “doesn’t matter.” Our job is to explain that optional means </a:t>
            </a:r>
            <a:r>
              <a:rPr b="1"/>
              <a:t>colleges have choices</a:t>
            </a:r>
            <a:r>
              <a:rPr/>
              <a:t>, not that Science is irrelevant.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If asked, you can briefly note that there is a small extra fee for adding Science, but the main concern is </a:t>
            </a:r>
            <a:r>
              <a:rPr b="1"/>
              <a:t>time and fatigue</a:t>
            </a:r>
            <a:r>
              <a:rPr/>
              <a:t> on test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this slide to push back gently against the “I hate science so I’ll just skip it” narrative, especially for younger students who might change their minds.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Key ideas: - ACT’s own research shows that Math + Science performance matters for STEM success, and they built a formal STEM benchmark around that. - Colleges and programs that care about STEM will keep looking at </a:t>
            </a:r>
            <a:r>
              <a:rPr b="1"/>
              <a:t>both</a:t>
            </a:r>
            <a:r>
              <a:rPr/>
              <a:t> Math and Science if they’re available.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How to phrase it to families: - “Even if Science doesn’t change the composite, it can still tell a helpful story if your student is aiming at anything math- or science-heavy.” - “If there’s any chance of STEM, we want that option open rather than closed.”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You can also point out that a good Science score </a:t>
            </a:r>
            <a:r>
              <a:rPr b="1"/>
              <a:t>never hurts</a:t>
            </a:r>
            <a:r>
              <a:rPr/>
              <a:t>; now that it doesn’t drag down the Superscore, it’s mostly upside.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reinforces that “optional” is real at many top schools:</a:t>
            </a:r>
          </a:p>
          <a:p>
            <a:pPr lvl="0" indent="0" marL="0">
              <a:buNone/>
            </a:pPr>
          </a:p>
          <a:p>
            <a:pPr lvl="0"/>
            <a:r>
              <a:rPr/>
              <a:t>Harvard, Stanford, Princeton, and others have gone on record that the optional ACT Science section is not required for their applications.</a:t>
            </a:r>
          </a:p>
          <a:p>
            <a:pPr lvl="0" indent="0" marL="0">
              <a:buNone/>
            </a:pPr>
          </a:p>
          <a:p>
            <a:pPr lvl="0"/>
            <a:r>
              <a:rPr/>
              <a:t>Common App supporting ACT with or without Science is a strong signal that schools are prepared for both types of score reports.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However, stress the nuance: - “The college” may not require Science, but </a:t>
            </a:r>
            <a:r>
              <a:rPr b="1"/>
              <a:t>specific programs</a:t>
            </a:r>
            <a:r>
              <a:rPr/>
              <a:t> (engineering, nursing, pre-health, selective STEM honors) might still strongly prefer or expect it. - As policies evolve, you’ll maintain a shared tracking document so the team doesn’t have to chase every nuance alone.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Keep it simple in your talk, then let counselors read the notes and references if they want more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shows </a:t>
            </a:r>
            <a:r>
              <a:rPr b="1"/>
              <a:t>patterns</a:t>
            </a:r>
            <a:r>
              <a:rPr/>
              <a:t>, not a static forever-list:</a:t>
            </a:r>
          </a:p>
          <a:p>
            <a:pPr lvl="0" indent="0" marL="0">
              <a:buNone/>
            </a:pPr>
          </a:p>
          <a:p>
            <a:pPr lvl="0"/>
            <a:r>
              <a:rPr/>
              <a:t>Many selective privates </a:t>
            </a:r>
            <a:r>
              <a:rPr b="1"/>
              <a:t>do not require</a:t>
            </a:r>
            <a:r>
              <a:rPr/>
              <a:t> Science; a few (like BU) still require it if a student chooses the ACT route.</a:t>
            </a:r>
          </a:p>
          <a:p>
            <a:pPr lvl="0" indent="0" marL="0">
              <a:buNone/>
            </a:pPr>
          </a:p>
          <a:p>
            <a:pPr lvl="0"/>
            <a:r>
              <a:rPr/>
              <a:t>Some schools (e.g., Vanderbilt) use Science only if it </a:t>
            </a:r>
            <a:r>
              <a:rPr b="1"/>
              <a:t>helps</a:t>
            </a:r>
            <a:r>
              <a:rPr/>
              <a:t> the superscore.</a:t>
            </a:r>
          </a:p>
          <a:p>
            <a:pPr lvl="0" indent="0" marL="0">
              <a:buNone/>
            </a:pPr>
          </a:p>
          <a:p>
            <a:pPr lvl="0"/>
            <a:r>
              <a:rPr/>
              <a:t>Yale and similar schools have </a:t>
            </a:r>
            <a:r>
              <a:rPr b="1"/>
              <a:t>test-flexible</a:t>
            </a:r>
            <a:r>
              <a:rPr/>
              <a:t> structures where ACT Science is explicitly optional.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How counselors can use this in practice: - For a student targeting BU or any school that </a:t>
            </a:r>
            <a:r>
              <a:rPr b="1"/>
              <a:t>requires</a:t>
            </a:r>
            <a:r>
              <a:rPr/>
              <a:t> Science, that’s easy: they </a:t>
            </a:r>
            <a:r>
              <a:rPr b="1"/>
              <a:t>must</a:t>
            </a:r>
            <a:r>
              <a:rPr/>
              <a:t> test with Science. - For a student targeting only schools that treat Science as optional, you can think strategically: - STEM? Add Science. - Non-STEM, weaker in Science? Possibly skip, once you’re sure of their final list.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Remind the team that policies are moving and we’re tracking them in a shared spreadsheet. The slide table is a snapshot; the real power is in knowing the question to ask on each college’s testing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emphasizes large public patterns: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</a:t>
            </a:r>
            <a:r>
              <a:rPr b="1"/>
              <a:t>UC system</a:t>
            </a:r>
            <a:r>
              <a:rPr/>
              <a:t> is test-free, so ACT Science is irrelevant for admission but can show up later for placement.</a:t>
            </a:r>
          </a:p>
          <a:p>
            <a:pPr lvl="0" indent="0" marL="0">
              <a:buNone/>
            </a:pPr>
          </a:p>
          <a:p>
            <a:pPr lvl="0"/>
            <a:r>
              <a:rPr/>
              <a:t>Several big flagships (OSU, UF, UGA) have aligned with ACT’s EMR-only composite, explicitly not requiring Science for admission.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Important nuance for Florida students: - Florida public universities (like UF, FSU, etc.) follow state guidance that </a:t>
            </a:r>
            <a:r>
              <a:rPr b="1"/>
              <a:t>does not require</a:t>
            </a:r>
            <a:r>
              <a:rPr/>
              <a:t> ACT Science for admission. - However, for </a:t>
            </a:r>
            <a:r>
              <a:rPr b="1"/>
              <a:t>Bright Futures</a:t>
            </a:r>
            <a:r>
              <a:rPr/>
              <a:t>, the way Science is handled in the composite can matter for the scholarship — which we cover on the next slide.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Encourage counselors to: - Check each school’s testing FAQ for phrases like “Science optional,” “composite based on English, Math, Reading,” or “we require all ACT subscores.” - Flag any confusing or contradictory language and send it to you for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Here, explicitly connect to what the COO asked for:</a:t>
            </a:r>
          </a:p>
          <a:p>
            <a:pPr lvl="0" indent="0" marL="0">
              <a:buNone/>
            </a:pPr>
          </a:p>
          <a:p>
            <a:pPr lvl="0"/>
            <a:r>
              <a:rPr/>
              <a:t>Bright Futures now formally allows ACT composites built either with EMRS or just EMR, using the best subscores.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That effectively means students can “use or not use” Science, whichever gets them to the needed scholarship cutoff.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How to explain it to families: - “If you take ACT with Science, Bright Futures will average all four subscores.” - “If you take ACT without Science, they’ll average three subscores.” - “They’ll use your best section scores overall. We’ll look at both pathways and see which composite helps you reach the Bright Futures threshold.”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Key counseling takeaway: - For Florida students, taking ACT with Science </a:t>
            </a:r>
            <a:r>
              <a:rPr b="1"/>
              <a:t>at least once</a:t>
            </a:r>
            <a:r>
              <a:rPr/>
              <a:t> keeps the scholarship route flexible. - If Science ends up being a weakness, Bright Futures policy gives us a way to ignore it; if it’s a strength, we take advantage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is designed as a scriptable decision tree:</a:t>
            </a:r>
          </a:p>
          <a:p>
            <a:pPr lvl="0" indent="0" marL="0">
              <a:buNone/>
            </a:pPr>
          </a:p>
          <a:p>
            <a:pPr lvl="0"/>
            <a:r>
              <a:rPr/>
              <a:t>Start with </a:t>
            </a:r>
            <a:r>
              <a:rPr b="1"/>
              <a:t>major/interest</a:t>
            </a:r>
            <a:r>
              <a:rPr/>
              <a:t>: STEM interest almost always pushes toward including Science.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Then move to </a:t>
            </a:r>
            <a:r>
              <a:rPr b="1"/>
              <a:t>policies</a:t>
            </a:r>
            <a:r>
              <a:rPr/>
              <a:t>, not vibes: What do the colleges and scholarships actually say on their websites?</a:t>
            </a:r>
          </a:p>
          <a:p>
            <a:pPr lvl="0" indent="0" marL="0">
              <a:buNone/>
            </a:pPr>
          </a:p>
          <a:p>
            <a:pPr lvl="0"/>
            <a:r>
              <a:rPr/>
              <a:t>Next, fold in </a:t>
            </a:r>
            <a:r>
              <a:rPr b="1"/>
              <a:t>student stamina and stress</a:t>
            </a:r>
            <a:r>
              <a:rPr/>
              <a:t>. For some non-STEM students, a shorter test may be a real benefit.</a:t>
            </a:r>
          </a:p>
          <a:p>
            <a:pPr lvl="0" indent="0" marL="0">
              <a:buNone/>
            </a:pPr>
          </a:p>
          <a:p>
            <a:pPr lvl="0"/>
            <a:r>
              <a:rPr/>
              <a:t>Finally, remind counselors that a student’s list and interests </a:t>
            </a:r>
            <a:r>
              <a:rPr b="1"/>
              <a:t>move over time</a:t>
            </a:r>
            <a:r>
              <a:rPr/>
              <a:t>; what’s clear in 10th grade may be different by 11th.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Encourage counselors to: - Use the spreadsheet as the “single source of truth” so they’re not each reinventing the wheel. - When something on a college website is ambiguous (“may consider STEM components”), send it to you for interpretation and to update the shared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10/15/2025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10/15/2025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10/15/2025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10/15/2025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10/15/2025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10/15/2025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10/15/2025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10/15/2025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pn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aseline="0" sz="120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10/15/2025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aseline="0"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aseline="0" sz="120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eaLnBrk="1" hangingPunct="1" latinLnBrk="0" rtl="0">
        <a:lnSpc>
          <a:spcPct val="95000"/>
        </a:lnSpc>
        <a:spcBef>
          <a:spcPct val="0"/>
        </a:spcBef>
        <a:buNone/>
        <a:defRPr kern="1200" sz="30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500"/>
        </a:spcBef>
        <a:buFont charset="2" panose="05000000000000000000" pitchFamily="2" typeface="Wingdings"/>
        <a:buChar char="§"/>
        <a:defRPr kern="1200" sz="2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00000"/>
        </a:lnSpc>
        <a:spcBef>
          <a:spcPts val="300"/>
        </a:spcBef>
        <a:buFont charset="2" panose="05000000000000000000" pitchFamily="2" typeface="Wingdings"/>
        <a:buChar char="§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00000"/>
        </a:lnSpc>
        <a:spcBef>
          <a:spcPts val="300"/>
        </a:spcBef>
        <a:buFont charset="2" panose="05000000000000000000" pitchFamily="2" typeface="Wingdings"/>
        <a:buChar char="§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00000"/>
        </a:lnSpc>
        <a:spcBef>
          <a:spcPts val="0"/>
        </a:spcBef>
        <a:buFont charset="2" panose="05000000000000000000" pitchFamily="2" typeface="Wingdings"/>
        <a:buChar char="§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00000"/>
        </a:lnSpc>
        <a:spcBef>
          <a:spcPts val="0"/>
        </a:spcBef>
        <a:buFont charset="2" panose="05000000000000000000" pitchFamily="2" typeface="Wingdings"/>
        <a:buChar char="§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100000"/>
        </a:lnSpc>
        <a:spcBef>
          <a:spcPts val="0"/>
        </a:spcBef>
        <a:buFont charset="2" panose="05000000000000000000" pitchFamily="2" typeface="Wingdings"/>
        <a:buChar char="§"/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100000"/>
        </a:lnSpc>
        <a:spcBef>
          <a:spcPts val="0"/>
        </a:spcBef>
        <a:buFont charset="2" panose="05000000000000000000" pitchFamily="2" typeface="Wingdings"/>
        <a:buChar char="§"/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100000"/>
        </a:lnSpc>
        <a:spcBef>
          <a:spcPts val="0"/>
        </a:spcBef>
        <a:buFont charset="2" panose="05000000000000000000" pitchFamily="2" typeface="Wingdings"/>
        <a:buChar char="§"/>
        <a:defRPr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100000"/>
        </a:lnSpc>
        <a:spcBef>
          <a:spcPts val="0"/>
        </a:spcBef>
        <a:buFont charset="2" panose="05000000000000000000" pitchFamily="2" typeface="Wingdings"/>
        <a:buChar char="§"/>
        <a:defRPr kern="1200"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Enhanced ACT &amp; Optional Science: Counseling Implications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3175199" y="4538659"/>
            <a:ext cx="8500062" cy="865321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International College Counselors Team Briefing</a:t>
            </a:r>
            <a:br/>
            <a:br/>
            <a:r>
              <a:rPr/>
              <a:t>Joshua West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&amp; Session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Why we’re here</a:t>
            </a:r>
          </a:p>
          <a:p>
            <a:pPr lvl="1"/>
            <a:r>
              <a:rPr/>
              <a:t>The ACT is rolling out an </a:t>
            </a:r>
            <a:r>
              <a:rPr b="1"/>
              <a:t>Enhanced ACT</a:t>
            </a:r>
            <a:r>
              <a:rPr/>
              <a:t> with </a:t>
            </a:r>
            <a:r>
              <a:rPr b="1"/>
              <a:t>optional Science</a:t>
            </a:r>
            <a:r>
              <a:rPr/>
              <a:t>.</a:t>
            </a:r>
          </a:p>
          <a:p>
            <a:pPr lvl="1"/>
            <a:r>
              <a:rPr/>
              <a:t>Colleges and scholarships are responding in </a:t>
            </a:r>
            <a:r>
              <a:rPr b="1"/>
              <a:t>different ways</a:t>
            </a:r>
            <a:r>
              <a:rPr/>
              <a:t>.</a:t>
            </a:r>
          </a:p>
          <a:p>
            <a:pPr lvl="0"/>
            <a:r>
              <a:rPr b="1"/>
              <a:t>Today’s focus (≈15 minutes)</a:t>
            </a:r>
          </a:p>
          <a:p>
            <a:pPr lvl="1"/>
            <a:r>
              <a:rPr/>
              <a:t>High-level overview of the </a:t>
            </a:r>
            <a:r>
              <a:rPr b="1"/>
              <a:t>Enhanced ACT</a:t>
            </a:r>
            <a:r>
              <a:rPr/>
              <a:t> (beyond just Science).</a:t>
            </a:r>
          </a:p>
          <a:p>
            <a:pPr lvl="1"/>
            <a:r>
              <a:rPr/>
              <a:t>What’s changing for </a:t>
            </a:r>
            <a:r>
              <a:rPr b="1"/>
              <a:t>ACT Science</a:t>
            </a:r>
            <a:r>
              <a:rPr/>
              <a:t> and </a:t>
            </a:r>
            <a:r>
              <a:rPr b="1"/>
              <a:t>STEM signaling</a:t>
            </a:r>
            <a:r>
              <a:rPr/>
              <a:t>.</a:t>
            </a:r>
          </a:p>
          <a:p>
            <a:pPr lvl="1"/>
            <a:r>
              <a:rPr/>
              <a:t>How key colleges — and </a:t>
            </a:r>
            <a:r>
              <a:rPr b="1"/>
              <a:t>Florida Bright Futures</a:t>
            </a:r>
            <a:r>
              <a:rPr/>
              <a:t> — are handling it.</a:t>
            </a:r>
          </a:p>
          <a:p>
            <a:pPr lvl="1"/>
            <a:r>
              <a:rPr/>
              <a:t>How we, as a counseling team, can </a:t>
            </a:r>
            <a:r>
              <a:rPr b="1"/>
              <a:t>advise families confidently</a:t>
            </a:r>
            <a:r>
              <a:rPr/>
              <a:t>.</a:t>
            </a:r>
          </a:p>
          <a:p>
            <a:pPr lvl="0"/>
            <a:r>
              <a:rPr b="1"/>
              <a:t>What you’ll leave with</a:t>
            </a:r>
          </a:p>
          <a:p>
            <a:pPr lvl="1"/>
            <a:r>
              <a:rPr/>
              <a:t>A simple </a:t>
            </a:r>
            <a:r>
              <a:rPr b="1"/>
              <a:t>decision framework</a:t>
            </a:r>
            <a:r>
              <a:rPr/>
              <a:t> for students.</a:t>
            </a:r>
          </a:p>
          <a:p>
            <a:pPr lvl="1"/>
            <a:r>
              <a:rPr/>
              <a:t>A clearer sense of </a:t>
            </a:r>
            <a:r>
              <a:rPr b="1"/>
              <a:t>when to recommend ACT Science</a:t>
            </a:r>
            <a:r>
              <a:rPr/>
              <a:t>.</a:t>
            </a:r>
          </a:p>
          <a:p>
            <a:pPr lvl="1"/>
            <a:r>
              <a:rPr/>
              <a:t>Clarity on </a:t>
            </a:r>
            <a:r>
              <a:rPr b="1"/>
              <a:t>how and when to loop me in</a:t>
            </a:r>
            <a:r>
              <a:rPr/>
              <a:t> for student questions.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Joshua West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Who I am</a:t>
            </a:r>
          </a:p>
          <a:p>
            <a:pPr lvl="1"/>
            <a:r>
              <a:rPr b="1"/>
              <a:t>President &amp; Educator</a:t>
            </a:r>
            <a:r>
              <a:rPr/>
              <a:t>, On the Rise Education (nonprofit).</a:t>
            </a:r>
          </a:p>
          <a:p>
            <a:pPr lvl="1"/>
            <a:r>
              <a:rPr/>
              <a:t>~</a:t>
            </a:r>
            <a:r>
              <a:rPr b="1"/>
              <a:t>26 years</a:t>
            </a:r>
            <a:r>
              <a:rPr/>
              <a:t> teaching and tutoring experience (K–12, college, adult learners).</a:t>
            </a:r>
          </a:p>
          <a:p>
            <a:pPr lvl="0"/>
            <a:r>
              <a:rPr b="1"/>
              <a:t>What I do</a:t>
            </a:r>
          </a:p>
          <a:p>
            <a:pPr lvl="1"/>
            <a:r>
              <a:rPr/>
              <a:t>Specialize in </a:t>
            </a:r>
            <a:r>
              <a:rPr b="1"/>
              <a:t>test prep</a:t>
            </a:r>
            <a:r>
              <a:rPr/>
              <a:t> (ACT, SAT, PSAT, ISEE/SSAT, AP exams) and </a:t>
            </a:r>
            <a:r>
              <a:rPr b="1"/>
              <a:t>academic support</a:t>
            </a:r>
            <a:r>
              <a:rPr/>
              <a:t>.</a:t>
            </a:r>
          </a:p>
          <a:p>
            <a:pPr lvl="1"/>
            <a:r>
              <a:rPr/>
              <a:t>Work extensively with students who have </a:t>
            </a:r>
            <a:r>
              <a:rPr b="1"/>
              <a:t>ADHD, anxiety, and learning differences</a:t>
            </a:r>
            <a:r>
              <a:rPr/>
              <a:t>.</a:t>
            </a:r>
          </a:p>
          <a:p>
            <a:pPr lvl="1"/>
            <a:r>
              <a:rPr/>
              <a:t>Support families with </a:t>
            </a:r>
            <a:r>
              <a:rPr b="1"/>
              <a:t>test planning, timelines, and score strategy</a:t>
            </a:r>
            <a:r>
              <a:rPr/>
              <a:t>.</a:t>
            </a:r>
          </a:p>
          <a:p>
            <a:pPr lvl="0"/>
            <a:r>
              <a:rPr b="1"/>
              <a:t>How I can help this team</a:t>
            </a:r>
          </a:p>
          <a:p>
            <a:pPr lvl="1"/>
            <a:r>
              <a:rPr/>
              <a:t>Available to </a:t>
            </a:r>
            <a:r>
              <a:rPr b="1"/>
              <a:t>consult on individual student cases</a:t>
            </a:r>
            <a:r>
              <a:rPr/>
              <a:t> (especially tricky testing situations).</a:t>
            </a:r>
          </a:p>
          <a:p>
            <a:pPr lvl="1"/>
            <a:r>
              <a:rPr/>
              <a:t>Happy to </a:t>
            </a:r>
            <a:r>
              <a:rPr b="1"/>
              <a:t>translate policy changes</a:t>
            </a:r>
            <a:r>
              <a:rPr/>
              <a:t> into clear action steps for counselors and families.</a:t>
            </a:r>
          </a:p>
          <a:p>
            <a:pPr lvl="1"/>
            <a:r>
              <a:rPr/>
              <a:t>Consider me your </a:t>
            </a:r>
            <a:r>
              <a:rPr b="1"/>
              <a:t>“ACT/Testing nerd on call”</a:t>
            </a:r>
            <a:r>
              <a:rPr/>
              <a:t> – send me your edge cases and “what do we do here?” questions.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Big Picture: The Enhanced ACT (2025+)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Core structure</a:t>
            </a:r>
          </a:p>
          <a:p>
            <a:pPr lvl="1"/>
            <a:r>
              <a:rPr b="1"/>
              <a:t>Three required sections</a:t>
            </a:r>
            <a:r>
              <a:rPr/>
              <a:t>: English, Math, Reading (EMR).</a:t>
            </a:r>
          </a:p>
          <a:p>
            <a:pPr lvl="1"/>
            <a:r>
              <a:rPr b="1"/>
              <a:t>Optional sections</a:t>
            </a:r>
            <a:r>
              <a:rPr/>
              <a:t>: Science (now optional like Writing) and Writing.</a:t>
            </a:r>
          </a:p>
          <a:p>
            <a:pPr lvl="0"/>
            <a:r>
              <a:rPr b="1"/>
              <a:t>Scoring basics</a:t>
            </a:r>
          </a:p>
          <a:p>
            <a:pPr lvl="1"/>
            <a:r>
              <a:rPr/>
              <a:t>Composite ACT score now = </a:t>
            </a:r>
            <a:r>
              <a:rPr b="1"/>
              <a:t>average of EMR only</a:t>
            </a:r>
            <a:r>
              <a:rPr/>
              <a:t> (1–36).</a:t>
            </a:r>
          </a:p>
          <a:p>
            <a:pPr lvl="1"/>
            <a:r>
              <a:rPr/>
              <a:t>Science is scored separately (1–36) and used with Math to form the </a:t>
            </a:r>
            <a:r>
              <a:rPr b="1"/>
              <a:t>STEM score</a:t>
            </a:r>
            <a:r>
              <a:rPr/>
              <a:t>.</a:t>
            </a:r>
          </a:p>
          <a:p>
            <a:pPr lvl="1"/>
            <a:r>
              <a:rPr/>
              <a:t>ACT Superscore uses </a:t>
            </a:r>
            <a:r>
              <a:rPr b="1"/>
              <a:t>EMR only</a:t>
            </a:r>
            <a:r>
              <a:rPr/>
              <a:t>; Science does </a:t>
            </a:r>
            <a:r>
              <a:rPr b="1"/>
              <a:t>not</a:t>
            </a:r>
            <a:r>
              <a:rPr/>
              <a:t> affect Superscore.</a:t>
            </a:r>
          </a:p>
          <a:p>
            <a:pPr lvl="0"/>
            <a:r>
              <a:rPr b="1"/>
              <a:t>Rollout timeline</a:t>
            </a:r>
          </a:p>
          <a:p>
            <a:pPr lvl="1"/>
            <a:r>
              <a:rPr/>
              <a:t>Digital/online Enhanced ACT: </a:t>
            </a:r>
            <a:r>
              <a:rPr b="1"/>
              <a:t>April 2025 onward</a:t>
            </a:r>
            <a:r>
              <a:rPr/>
              <a:t>.</a:t>
            </a:r>
          </a:p>
          <a:p>
            <a:pPr lvl="1"/>
            <a:r>
              <a:rPr/>
              <a:t>Paper ACT transitions by late </a:t>
            </a:r>
            <a:r>
              <a:rPr b="1"/>
              <a:t>2025</a:t>
            </a:r>
            <a:r>
              <a:rPr/>
              <a:t>; legacy paper format retires.</a:t>
            </a:r>
          </a:p>
          <a:p>
            <a:pPr lvl="0"/>
            <a:r>
              <a:rPr b="1"/>
              <a:t>Implication for us</a:t>
            </a:r>
          </a:p>
          <a:p>
            <a:pPr lvl="1"/>
            <a:r>
              <a:rPr/>
              <a:t>Students now have to </a:t>
            </a:r>
            <a:r>
              <a:rPr b="1"/>
              <a:t>decide</a:t>
            </a:r>
            <a:r>
              <a:rPr/>
              <a:t> whether to add Science.</a:t>
            </a:r>
          </a:p>
          <a:p>
            <a:pPr lvl="1"/>
            <a:r>
              <a:rPr/>
              <a:t>Colleges &amp; scholarships can choose </a:t>
            </a:r>
            <a:r>
              <a:rPr b="1"/>
              <a:t>whether and how</a:t>
            </a:r>
            <a:r>
              <a:rPr/>
              <a:t> to use the Science score.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Changed in ACT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From required to optional</a:t>
            </a:r>
          </a:p>
          <a:p>
            <a:pPr lvl="1"/>
            <a:r>
              <a:rPr/>
              <a:t>Previously: Science was </a:t>
            </a:r>
            <a:r>
              <a:rPr b="1"/>
              <a:t>required</a:t>
            </a:r>
            <a:r>
              <a:rPr/>
              <a:t> and part of the composite.</a:t>
            </a:r>
          </a:p>
          <a:p>
            <a:pPr lvl="1"/>
            <a:r>
              <a:rPr/>
              <a:t>Now: Science is </a:t>
            </a:r>
            <a:r>
              <a:rPr b="1"/>
              <a:t>optional</a:t>
            </a:r>
            <a:r>
              <a:rPr/>
              <a:t>, scored separately, and </a:t>
            </a:r>
            <a:r>
              <a:rPr b="1"/>
              <a:t>not</a:t>
            </a:r>
            <a:r>
              <a:rPr/>
              <a:t> in the composite or ACT Superscore.</a:t>
            </a:r>
          </a:p>
          <a:p>
            <a:pPr lvl="0"/>
            <a:r>
              <a:rPr b="1"/>
              <a:t>Format &amp; role</a:t>
            </a:r>
          </a:p>
          <a:p>
            <a:pPr lvl="1"/>
            <a:r>
              <a:rPr/>
              <a:t>Still a </a:t>
            </a:r>
            <a:r>
              <a:rPr b="1"/>
              <a:t>40-question</a:t>
            </a:r>
            <a:r>
              <a:rPr/>
              <a:t>, data-analysis-heavy section (1–36 scale).</a:t>
            </a:r>
          </a:p>
          <a:p>
            <a:pPr lvl="1"/>
            <a:r>
              <a:rPr/>
              <a:t>Pairs with Math to produce a </a:t>
            </a:r>
            <a:r>
              <a:rPr b="1"/>
              <a:t>STEM score</a:t>
            </a:r>
            <a:r>
              <a:rPr/>
              <a:t> that colleges may still value.</a:t>
            </a:r>
          </a:p>
          <a:p>
            <a:pPr lvl="0"/>
            <a:r>
              <a:rPr b="1"/>
              <a:t>Reporting</a:t>
            </a:r>
          </a:p>
          <a:p>
            <a:pPr lvl="1"/>
            <a:r>
              <a:rPr/>
              <a:t>Students can register </a:t>
            </a:r>
            <a:r>
              <a:rPr b="1"/>
              <a:t>with or without Science</a:t>
            </a:r>
            <a:r>
              <a:rPr/>
              <a:t>.</a:t>
            </a:r>
          </a:p>
          <a:p>
            <a:pPr lvl="1"/>
            <a:r>
              <a:rPr/>
              <a:t>Score reports show:</a:t>
            </a:r>
          </a:p>
          <a:p>
            <a:pPr lvl="2"/>
            <a:r>
              <a:rPr/>
              <a:t>EMR scores</a:t>
            </a:r>
          </a:p>
          <a:p>
            <a:pPr lvl="2"/>
            <a:r>
              <a:rPr b="1"/>
              <a:t>Composite (EMR only)</a:t>
            </a:r>
          </a:p>
          <a:p>
            <a:pPr lvl="2"/>
            <a:r>
              <a:rPr/>
              <a:t>Science score (if taken)</a:t>
            </a:r>
          </a:p>
          <a:p>
            <a:pPr lvl="2"/>
            <a:r>
              <a:rPr/>
              <a:t>STEM score (if Science is taken)</a:t>
            </a:r>
          </a:p>
          <a:p>
            <a:pPr lvl="0"/>
            <a:r>
              <a:rPr b="1"/>
              <a:t>Key takeaway</a:t>
            </a:r>
          </a:p>
          <a:p>
            <a:pPr lvl="1"/>
            <a:r>
              <a:rPr/>
              <a:t>Science is </a:t>
            </a:r>
            <a:r>
              <a:rPr b="1"/>
              <a:t>no longer “baked in”</a:t>
            </a:r>
            <a:r>
              <a:rPr/>
              <a:t> to the composite — but it still exists as a </a:t>
            </a:r>
            <a:r>
              <a:rPr b="1"/>
              <a:t>signal</a:t>
            </a:r>
            <a:r>
              <a:rPr/>
              <a:t>, especially for STEM-leaning students and some scholarships.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Optional Science Still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STEM readiness signal</a:t>
            </a:r>
          </a:p>
          <a:p>
            <a:pPr lvl="1"/>
            <a:r>
              <a:rPr/>
              <a:t>ACT’s </a:t>
            </a:r>
            <a:r>
              <a:rPr b="1"/>
              <a:t>STEM benchmark</a:t>
            </a:r>
            <a:r>
              <a:rPr/>
              <a:t> uses Math + Science to predict success in </a:t>
            </a:r>
            <a:r>
              <a:rPr b="1"/>
              <a:t>first-year STEM courses</a:t>
            </a:r>
            <a:r>
              <a:rPr/>
              <a:t> and persistence in STEM majors.</a:t>
            </a:r>
          </a:p>
          <a:p>
            <a:pPr lvl="1"/>
            <a:r>
              <a:rPr/>
              <a:t>Higher Math/Science performance is linked to </a:t>
            </a:r>
            <a:r>
              <a:rPr b="1"/>
              <a:t>better STEM outcomes</a:t>
            </a:r>
            <a:r>
              <a:rPr/>
              <a:t>.</a:t>
            </a:r>
          </a:p>
          <a:p>
            <a:pPr lvl="0"/>
            <a:r>
              <a:rPr b="1"/>
              <a:t>Predictive value</a:t>
            </a:r>
          </a:p>
          <a:p>
            <a:pPr lvl="1"/>
            <a:r>
              <a:rPr/>
              <a:t>ACT scores (with HSGPA) still add </a:t>
            </a:r>
            <a:r>
              <a:rPr b="1"/>
              <a:t>predictive power</a:t>
            </a:r>
            <a:r>
              <a:rPr/>
              <a:t> for college GPA and degree completion.</a:t>
            </a:r>
          </a:p>
          <a:p>
            <a:pPr lvl="1"/>
            <a:r>
              <a:rPr/>
              <a:t>STEM courses often grade more stringently; strong Math/Science scores can help contextualize a transcript.</a:t>
            </a:r>
          </a:p>
          <a:p>
            <a:pPr lvl="0"/>
            <a:r>
              <a:rPr b="1"/>
              <a:t>Practical implication</a:t>
            </a:r>
          </a:p>
          <a:p>
            <a:pPr lvl="1"/>
            <a:r>
              <a:rPr/>
              <a:t>Even though Science won’t raise the </a:t>
            </a:r>
            <a:r>
              <a:rPr b="1"/>
              <a:t>composite</a:t>
            </a:r>
            <a:r>
              <a:rPr/>
              <a:t>, a solid Science + STEM score can:</a:t>
            </a:r>
          </a:p>
          <a:p>
            <a:pPr lvl="2"/>
            <a:r>
              <a:rPr/>
              <a:t>Strengthen applications for </a:t>
            </a:r>
            <a:r>
              <a:rPr b="1"/>
              <a:t>engineering, CS, pre-med, and other STEM majors</a:t>
            </a:r>
            <a:r>
              <a:rPr/>
              <a:t>.</a:t>
            </a:r>
          </a:p>
          <a:p>
            <a:pPr lvl="2"/>
            <a:r>
              <a:rPr/>
              <a:t>Support scholarship or honors-program review that looks at </a:t>
            </a:r>
            <a:r>
              <a:rPr b="1"/>
              <a:t>STEM indicators</a:t>
            </a:r>
            <a:r>
              <a:rPr/>
              <a:t>.</a:t>
            </a:r>
          </a:p>
          <a:p>
            <a:pPr lvl="0"/>
            <a:r>
              <a:rPr b="1"/>
              <a:t>Rule of thumb</a:t>
            </a:r>
          </a:p>
          <a:p>
            <a:pPr lvl="1"/>
            <a:r>
              <a:rPr/>
              <a:t>If </a:t>
            </a:r>
            <a:r>
              <a:rPr b="1"/>
              <a:t>STEM is on the table at all</a:t>
            </a:r>
            <a:r>
              <a:rPr/>
              <a:t>, Science is </a:t>
            </a:r>
            <a:r>
              <a:rPr b="1"/>
              <a:t>usually worth taking at least once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Colleges &amp; Common App Are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ACT’s stance</a:t>
            </a:r>
          </a:p>
          <a:p>
            <a:pPr lvl="1"/>
            <a:r>
              <a:rPr/>
              <a:t>Science is now </a:t>
            </a:r>
            <a:r>
              <a:rPr b="1"/>
              <a:t>“student choice”</a:t>
            </a:r>
            <a:r>
              <a:rPr/>
              <a:t>; colleges can </a:t>
            </a:r>
            <a:r>
              <a:rPr b="1"/>
              <a:t>require, recommend, ignore, or superscore</a:t>
            </a:r>
            <a:r>
              <a:rPr/>
              <a:t> it as they see fit.</a:t>
            </a:r>
          </a:p>
          <a:p>
            <a:pPr lvl="0"/>
            <a:r>
              <a:rPr b="1"/>
              <a:t>Common App</a:t>
            </a:r>
          </a:p>
          <a:p>
            <a:pPr lvl="1"/>
            <a:r>
              <a:rPr/>
              <a:t>Starting with the 2025–26 cycle, students can self-report:</a:t>
            </a:r>
          </a:p>
          <a:p>
            <a:pPr lvl="2"/>
            <a:r>
              <a:rPr/>
              <a:t>An ACT </a:t>
            </a:r>
            <a:r>
              <a:rPr b="1"/>
              <a:t>with Science</a:t>
            </a:r>
            <a:r>
              <a:rPr/>
              <a:t> </a:t>
            </a:r>
            <a:r>
              <a:rPr i="1"/>
              <a:t>or</a:t>
            </a:r>
          </a:p>
          <a:p>
            <a:pPr lvl="2"/>
            <a:r>
              <a:rPr/>
              <a:t>An ACT </a:t>
            </a:r>
            <a:r>
              <a:rPr b="1"/>
              <a:t>without Science</a:t>
            </a:r>
          </a:p>
          <a:p>
            <a:pPr lvl="1"/>
            <a:r>
              <a:rPr/>
              <a:t>This signals broad acceptance of both reporting paths.</a:t>
            </a:r>
          </a:p>
          <a:p>
            <a:pPr lvl="0"/>
            <a:r>
              <a:rPr b="1"/>
              <a:t>Elite colleges (current examples)</a:t>
            </a:r>
          </a:p>
          <a:p>
            <a:pPr lvl="1"/>
            <a:r>
              <a:rPr b="1"/>
              <a:t>Harvard</a:t>
            </a:r>
            <a:r>
              <a:rPr/>
              <a:t>: “The optional science portion of the new ACT is </a:t>
            </a:r>
            <a:r>
              <a:rPr b="1"/>
              <a:t>not required</a:t>
            </a:r>
            <a:r>
              <a:rPr/>
              <a:t>.”</a:t>
            </a:r>
            <a:br/>
          </a:p>
          <a:p>
            <a:pPr lvl="1"/>
            <a:r>
              <a:rPr b="1"/>
              <a:t>Stanford</a:t>
            </a:r>
            <a:r>
              <a:rPr/>
              <a:t>: ACT’s optional Science section is also </a:t>
            </a:r>
            <a:r>
              <a:rPr b="1"/>
              <a:t>optional for Stanford</a:t>
            </a:r>
            <a:r>
              <a:rPr/>
              <a:t>.</a:t>
            </a:r>
          </a:p>
          <a:p>
            <a:pPr lvl="1"/>
            <a:r>
              <a:rPr b="1"/>
              <a:t>Princeton</a:t>
            </a:r>
            <a:r>
              <a:rPr/>
              <a:t>: Accepts the redesigned ACT; Science is </a:t>
            </a:r>
            <a:r>
              <a:rPr b="1"/>
              <a:t>optional</a:t>
            </a:r>
            <a:r>
              <a:rPr/>
              <a:t> for the new test version.</a:t>
            </a:r>
          </a:p>
          <a:p>
            <a:pPr lvl="0"/>
            <a:r>
              <a:rPr b="1"/>
              <a:t>Bottom line</a:t>
            </a:r>
          </a:p>
          <a:p>
            <a:pPr lvl="1"/>
            <a:r>
              <a:rPr/>
              <a:t>Many highly selective schools are </a:t>
            </a:r>
            <a:r>
              <a:rPr b="1"/>
              <a:t>comfortable</a:t>
            </a:r>
            <a:r>
              <a:rPr/>
              <a:t> with ACT submissions without Science.</a:t>
            </a:r>
          </a:p>
          <a:p>
            <a:pPr lvl="1"/>
            <a:r>
              <a:rPr/>
              <a:t>But </a:t>
            </a:r>
            <a:r>
              <a:rPr b="1"/>
              <a:t>programs and scholarships</a:t>
            </a:r>
            <a:r>
              <a:rPr/>
              <a:t> can still have </a:t>
            </a:r>
            <a:r>
              <a:rPr b="1"/>
              <a:t>stricter expectations</a:t>
            </a:r>
            <a:r>
              <a:rPr/>
              <a:t> than the general admission office.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Select Private Universities: ACT Science Policies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0" y="2184400"/>
          <a:ext cx="9626600" cy="39751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74700"/>
                <a:gridCol w="2946400"/>
                <a:gridCol w="5905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School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SAT/ACT required?*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How they treat ACT Science (new exam)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Boston University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Test-optional through Fall 2028/Spring 2029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If you submit ACT, BU </a:t>
                      </a:r>
                      <a:r>
                        <a:rPr b="1"/>
                        <a:t>requires Science</a:t>
                      </a:r>
                      <a:r>
                        <a:rPr/>
                        <a:t> to be included in the report.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Columbia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Test-optional (current policy; see site)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Accepts new ACT </a:t>
                      </a:r>
                      <a:r>
                        <a:rPr b="1"/>
                        <a:t>with or without Science</a:t>
                      </a:r>
                      <a:r>
                        <a:rPr/>
                        <a:t>; students choose whether to send scores at all.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Cornell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Testing required starting Fall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Science </a:t>
                      </a:r>
                      <a:r>
                        <a:rPr b="1"/>
                        <a:t>not required</a:t>
                      </a:r>
                      <a:r>
                        <a:rPr/>
                        <a:t>; ACT composite based on EMR.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Duke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Test-optional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Science </a:t>
                      </a:r>
                      <a:r>
                        <a:rPr b="1"/>
                        <a:t>encouraged</a:t>
                      </a:r>
                      <a:r>
                        <a:rPr/>
                        <a:t> for STEM but </a:t>
                      </a:r>
                      <a:r>
                        <a:rPr b="1"/>
                        <a:t>not required</a:t>
                      </a:r>
                      <a:r>
                        <a:rPr/>
                        <a:t>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Harvard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Test-required; see current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Optional Science </a:t>
                      </a:r>
                      <a:r>
                        <a:rPr b="1"/>
                        <a:t>not required</a:t>
                      </a:r>
                      <a:r>
                        <a:rPr/>
                        <a:t>; any ACT version accepted.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Testing required (SAT or ACT)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Science </a:t>
                      </a:r>
                      <a:r>
                        <a:rPr b="1"/>
                        <a:t>not required</a:t>
                      </a:r>
                      <a:r>
                        <a:rPr/>
                        <a:t>; ACT Writing also not required.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Northwestern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Test-optional (current cycle)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Science </a:t>
                      </a:r>
                      <a:r>
                        <a:rPr b="1"/>
                        <a:t>optional</a:t>
                      </a:r>
                      <a:r>
                        <a:rPr/>
                        <a:t>; composite and superscore follow EMR-only approach.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Penn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Testing required for 2025–26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 Science </a:t>
                      </a:r>
                      <a:r>
                        <a:rPr b="1"/>
                        <a:t>not required</a:t>
                      </a:r>
                      <a:r>
                        <a:rPr/>
                        <a:t> for ACT submitters.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Stanford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Testing required (with hardship waivers)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 Science </a:t>
                      </a:r>
                      <a:r>
                        <a:rPr b="1"/>
                        <a:t>optional</a:t>
                      </a:r>
                      <a:r>
                        <a:rPr/>
                        <a:t>; accepts original and redesigned ACT.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Vanderbilt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Test-optional through Fall 2027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Science </a:t>
                      </a:r>
                      <a:r>
                        <a:rPr b="1"/>
                        <a:t>not required</a:t>
                      </a:r>
                      <a:r>
                        <a:rPr/>
                        <a:t>; if submitted, used </a:t>
                      </a:r>
                      <a:r>
                        <a:rPr b="1"/>
                        <a:t>only when it raises</a:t>
                      </a:r>
                      <a:r>
                        <a:rPr/>
                        <a:t> the ACT superscore.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Yale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Requires testing (test-flexible: SAT, ACT, AP/IB)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 Science &amp; Writing </a:t>
                      </a:r>
                      <a:r>
                        <a:rPr b="1"/>
                        <a:t>optional</a:t>
                      </a:r>
                      <a:r>
                        <a:rPr/>
                        <a:t>; ACT super-scoring allowed.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*Always verify each school’s current first-year policy on its testing page.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Select Public Flagships &amp; Systems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0" y="2184400"/>
          <a:ext cx="9626600" cy="39751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32100"/>
                <a:gridCol w="2832100"/>
                <a:gridCol w="3962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School /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SAT/ACT policy*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 Science treatment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UC (all campuses)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Test-free</a:t>
                      </a:r>
                      <a:r>
                        <a:rPr/>
                        <a:t> for admission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ACT/SAT not used for admission; may be used later for </a:t>
                      </a:r>
                      <a:r>
                        <a:rPr b="1"/>
                        <a:t>placement</a:t>
                      </a:r>
                      <a:r>
                        <a:rPr/>
                        <a:t> only.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Ohio State (Columbus)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Testing required for many first-year applicants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Composite and any superscore based on </a:t>
                      </a:r>
                      <a:r>
                        <a:rPr b="1"/>
                        <a:t>EMR</a:t>
                      </a:r>
                      <a:r>
                        <a:rPr/>
                        <a:t>; Science not required.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University of Florida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Testing required (SAT/ACT/CLT)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Science </a:t>
                      </a:r>
                      <a:r>
                        <a:rPr b="1"/>
                        <a:t>optional</a:t>
                      </a:r>
                      <a:r>
                        <a:rPr/>
                        <a:t>; UF superscores using </a:t>
                      </a:r>
                      <a:r>
                        <a:rPr b="1"/>
                        <a:t>English, Reading, Math only</a:t>
                      </a:r>
                      <a:r>
                        <a:rPr/>
                        <a:t>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University of Georgia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See page for current state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Will </a:t>
                      </a:r>
                      <a:r>
                        <a:rPr b="1"/>
                        <a:t>not require</a:t>
                      </a:r>
                      <a:r>
                        <a:rPr/>
                        <a:t> Science; aligns superscore to </a:t>
                      </a:r>
                      <a:r>
                        <a:rPr b="1"/>
                        <a:t>EMR only</a:t>
                      </a:r>
                      <a:r>
                        <a:rPr/>
                        <a:t>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UIUC (Urbana-Champaign)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Test-optional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 separate Science requirement stated; ACT review focuses on EMR.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UT Austin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Testing required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Accepts ACT </a:t>
                      </a:r>
                      <a:r>
                        <a:rPr b="1"/>
                        <a:t>with or without Science</a:t>
                      </a:r>
                      <a:r>
                        <a:rPr/>
                        <a:t>; if Science is present, that composite may be reviewed.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*Always confirm the most recent admission cycle’s policy on the university site.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Florida Bright Futures: ACT Science Flexibility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New rule (starting with 2025–26 graduating class)</a:t>
            </a:r>
          </a:p>
          <a:p>
            <a:pPr lvl="1"/>
            <a:r>
              <a:rPr/>
              <a:t>For </a:t>
            </a:r>
            <a:r>
              <a:rPr b="1"/>
              <a:t>Bright Futures</a:t>
            </a:r>
            <a:r>
              <a:rPr/>
              <a:t>, the ACT Science section is now </a:t>
            </a:r>
            <a:r>
              <a:rPr b="1"/>
              <a:t>optional</a:t>
            </a:r>
            <a:r>
              <a:rPr/>
              <a:t>.</a:t>
            </a:r>
          </a:p>
          <a:p>
            <a:pPr lvl="0"/>
            <a:r>
              <a:rPr b="1"/>
              <a:t>How Bright Futures calculates the ACT composite</a:t>
            </a:r>
          </a:p>
          <a:p>
            <a:pPr lvl="1"/>
            <a:r>
              <a:rPr/>
              <a:t>If ACT scores </a:t>
            </a:r>
            <a:r>
              <a:rPr b="1"/>
              <a:t>with Science</a:t>
            </a:r>
            <a:r>
              <a:rPr/>
              <a:t> are reported:</a:t>
            </a:r>
          </a:p>
          <a:p>
            <a:pPr lvl="2"/>
            <a:r>
              <a:rPr/>
              <a:t>Composite = (English + Math + Reading + Science) ÷ 4.</a:t>
            </a:r>
          </a:p>
          <a:p>
            <a:pPr lvl="1"/>
            <a:r>
              <a:rPr/>
              <a:t>If ACT scores </a:t>
            </a:r>
            <a:r>
              <a:rPr b="1"/>
              <a:t>without Science</a:t>
            </a:r>
            <a:r>
              <a:rPr/>
              <a:t> are reported:</a:t>
            </a:r>
          </a:p>
          <a:p>
            <a:pPr lvl="2"/>
            <a:r>
              <a:rPr/>
              <a:t>Composite = (English + Math + Reading) ÷ 3.</a:t>
            </a:r>
          </a:p>
          <a:p>
            <a:pPr lvl="1"/>
            <a:r>
              <a:rPr/>
              <a:t>Bright Futures uses the </a:t>
            </a:r>
            <a:r>
              <a:rPr b="1"/>
              <a:t>highest section scores</a:t>
            </a:r>
            <a:r>
              <a:rPr/>
              <a:t> across sittings.</a:t>
            </a:r>
          </a:p>
          <a:p>
            <a:pPr lvl="0"/>
            <a:r>
              <a:rPr b="1"/>
              <a:t>What this means in practice</a:t>
            </a:r>
          </a:p>
          <a:p>
            <a:pPr lvl="1"/>
            <a:r>
              <a:rPr/>
              <a:t>Students can qualify for scholarships </a:t>
            </a:r>
            <a:r>
              <a:rPr b="1"/>
              <a:t>with or without Science</a:t>
            </a:r>
            <a:r>
              <a:rPr/>
              <a:t>, depending on which route yields the </a:t>
            </a:r>
            <a:r>
              <a:rPr b="1"/>
              <a:t>higher composite</a:t>
            </a:r>
            <a:r>
              <a:rPr/>
              <a:t>.</a:t>
            </a:r>
          </a:p>
          <a:p>
            <a:pPr lvl="1"/>
            <a:r>
              <a:rPr/>
              <a:t>Florida public universities themselves </a:t>
            </a:r>
            <a:r>
              <a:rPr b="1"/>
              <a:t>do not require</a:t>
            </a:r>
            <a:r>
              <a:rPr/>
              <a:t> the Science subsection for admission.</a:t>
            </a:r>
          </a:p>
          <a:p>
            <a:pPr lvl="0"/>
            <a:r>
              <a:rPr b="1"/>
              <a:t>Talking point for Florida families</a:t>
            </a:r>
          </a:p>
          <a:p>
            <a:pPr lvl="1"/>
            <a:r>
              <a:rPr/>
              <a:t>“Bright Futures lets you use whichever ACT combination (with or without Science) gives you the </a:t>
            </a:r>
            <a:r>
              <a:rPr b="1"/>
              <a:t>stronger composite</a:t>
            </a:r>
            <a:r>
              <a:rPr/>
              <a:t> — we’ll plan your testing to keep both options open.”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Counseling Framework: Should My Student Take ACT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Clarify likely majors</a:t>
            </a:r>
          </a:p>
          <a:p>
            <a:pPr lvl="1"/>
            <a:r>
              <a:rPr/>
              <a:t>Interested in </a:t>
            </a:r>
            <a:r>
              <a:rPr b="1"/>
              <a:t>engineering, CS, data science, health, or “maybe STEM?”</a:t>
            </a:r>
            <a:br/>
            <a:r>
              <a:rPr/>
              <a:t>→ </a:t>
            </a:r>
            <a:r>
              <a:rPr b="1"/>
              <a:t>Recommend ACT with Science</a:t>
            </a:r>
            <a:r>
              <a:rPr/>
              <a:t> (at least once).</a:t>
            </a:r>
          </a:p>
          <a:p>
            <a:pPr lvl="1"/>
            <a:r>
              <a:rPr/>
              <a:t>Solidly </a:t>
            </a:r>
            <a:r>
              <a:rPr b="1"/>
              <a:t>non-STEM</a:t>
            </a:r>
            <a:r>
              <a:rPr/>
              <a:t> (humanities, arts, some business) and clearly non-STEM college list?</a:t>
            </a:r>
            <a:br/>
            <a:r>
              <a:rPr/>
              <a:t>→ Science becomes more </a:t>
            </a:r>
            <a:r>
              <a:rPr b="1"/>
              <a:t>optional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 b="1"/>
              <a:t>Check college &amp; scholarship policies</a:t>
            </a:r>
          </a:p>
          <a:p>
            <a:pPr lvl="1"/>
            <a:r>
              <a:rPr/>
              <a:t>Use a </a:t>
            </a:r>
            <a:r>
              <a:rPr b="1"/>
              <a:t>shared spreadsheet</a:t>
            </a:r>
            <a:r>
              <a:rPr/>
              <a:t> with columns:</a:t>
            </a:r>
          </a:p>
          <a:p>
            <a:pPr lvl="2"/>
            <a:r>
              <a:rPr/>
              <a:t>Test required/optional?</a:t>
            </a:r>
          </a:p>
          <a:p>
            <a:pPr lvl="2"/>
            <a:r>
              <a:rPr/>
              <a:t>ACT Science required/recommended/optional?</a:t>
            </a:r>
          </a:p>
          <a:p>
            <a:pPr lvl="2"/>
            <a:r>
              <a:rPr/>
              <a:t>Superscore rules and STEM program notes.</a:t>
            </a:r>
          </a:p>
          <a:p>
            <a:pPr lvl="0" indent="-457200" marL="457200">
              <a:buAutoNum type="arabicPeriod"/>
            </a:pPr>
            <a:r>
              <a:rPr b="1"/>
              <a:t>Consider test-day strategy</a:t>
            </a:r>
          </a:p>
          <a:p>
            <a:pPr lvl="1"/>
            <a:r>
              <a:rPr/>
              <a:t>Strong EMR but </a:t>
            </a:r>
            <a:r>
              <a:rPr b="1"/>
              <a:t>limited stamina</a:t>
            </a:r>
            <a:r>
              <a:rPr/>
              <a:t> or test anxiety?</a:t>
            </a:r>
          </a:p>
          <a:p>
            <a:pPr lvl="2"/>
            <a:r>
              <a:rPr/>
              <a:t>For non-STEM students with no Science requirements: consider </a:t>
            </a:r>
            <a:r>
              <a:rPr b="1"/>
              <a:t>skipping Science</a:t>
            </a:r>
            <a:r>
              <a:rPr/>
              <a:t>.</a:t>
            </a:r>
          </a:p>
          <a:p>
            <a:pPr lvl="1"/>
            <a:r>
              <a:rPr/>
              <a:t>Unclear major or evolving list?</a:t>
            </a:r>
          </a:p>
          <a:p>
            <a:pPr lvl="2"/>
            <a:r>
              <a:rPr/>
              <a:t>Take ACT </a:t>
            </a:r>
            <a:r>
              <a:rPr b="1"/>
              <a:t>with Science at least once</a:t>
            </a:r>
            <a:r>
              <a:rPr/>
              <a:t>, then decide about later sittings.</a:t>
            </a:r>
          </a:p>
          <a:p>
            <a:pPr lvl="0" indent="-457200" marL="457200">
              <a:buAutoNum type="arabicPeriod"/>
            </a:pPr>
            <a:r>
              <a:rPr b="1"/>
              <a:t>Revisit before senior-year registrations</a:t>
            </a:r>
          </a:p>
          <a:p>
            <a:pPr lvl="1"/>
            <a:r>
              <a:rPr/>
              <a:t>Before final test dates, confirm:</a:t>
            </a:r>
          </a:p>
          <a:p>
            <a:pPr lvl="2"/>
            <a:r>
              <a:rPr/>
              <a:t>College list policies</a:t>
            </a:r>
          </a:p>
          <a:p>
            <a:pPr lvl="2"/>
            <a:r>
              <a:rPr/>
              <a:t>Scholarship requirements (especially </a:t>
            </a:r>
            <a:r>
              <a:rPr b="1"/>
              <a:t>Bright Futures</a:t>
            </a:r>
            <a:r>
              <a:rPr/>
              <a:t> and institutional merit)</a:t>
            </a:r>
          </a:p>
          <a:p>
            <a:pPr lvl="1"/>
            <a:r>
              <a:rPr/>
              <a:t>Adjust plan accordingly.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Examples: How This Plays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Case 1: Florida student, STEM-curious</a:t>
            </a:r>
          </a:p>
          <a:p>
            <a:pPr lvl="1"/>
            <a:r>
              <a:rPr/>
              <a:t>10th grader in Florida, likes </a:t>
            </a:r>
            <a:r>
              <a:rPr b="1"/>
              <a:t>biology and math</a:t>
            </a:r>
            <a:r>
              <a:rPr/>
              <a:t>, unsure between pre-med and psychology.</a:t>
            </a:r>
          </a:p>
          <a:p>
            <a:pPr lvl="1"/>
            <a:r>
              <a:rPr/>
              <a:t>Target list includes </a:t>
            </a:r>
            <a:r>
              <a:rPr b="1"/>
              <a:t>UF, FSU, UCF</a:t>
            </a:r>
            <a:r>
              <a:rPr/>
              <a:t>, and a couple of out-of-state public flagships.</a:t>
            </a:r>
          </a:p>
          <a:p>
            <a:pPr lvl="1"/>
            <a:r>
              <a:rPr/>
              <a:t>Counseling recommendation:</a:t>
            </a:r>
          </a:p>
          <a:p>
            <a:pPr lvl="2"/>
            <a:r>
              <a:rPr/>
              <a:t>Plan for ACT </a:t>
            </a:r>
            <a:r>
              <a:rPr b="1"/>
              <a:t>with Science</a:t>
            </a:r>
            <a:r>
              <a:rPr/>
              <a:t> early.</a:t>
            </a:r>
          </a:p>
          <a:p>
            <a:pPr lvl="2"/>
            <a:r>
              <a:rPr/>
              <a:t>Track both </a:t>
            </a:r>
            <a:r>
              <a:rPr b="1"/>
              <a:t>Bright Futures thresholds</a:t>
            </a:r>
            <a:r>
              <a:rPr/>
              <a:t> and </a:t>
            </a:r>
            <a:r>
              <a:rPr b="1"/>
              <a:t>STEM program expectati</a:t>
            </a:r>
          </a:p>
        </p:txBody>
      </p:sp>
    </p:spTree>
  </p:cSld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4</TotalTime>
  <Words>139</Words>
  <Application>Microsoft Office PowerPoint</Application>
  <PresentationFormat>Widescreen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Wingdings</vt:lpstr>
      <vt:lpstr>Educational subjects 16x9</vt:lpstr>
      <vt:lpstr>Title Layout</vt:lpstr>
      <vt:lpstr>Title and Content Layout with List</vt:lpstr>
      <vt:lpstr>Title and Content Layout with Chart</vt:lpstr>
      <vt:lpstr>Two Content Layout with Table</vt:lpstr>
      <vt:lpstr>Title and Content Layout with SmartArt</vt:lpstr>
      <vt:lpstr>Add a Slide Title - 1</vt:lpstr>
      <vt:lpstr>Add a Slide Title - 2</vt:lpstr>
      <vt:lpstr>Add a Slide Title - 3</vt:lpstr>
      <vt:lpstr>PowerPoint Presentation</vt:lpstr>
      <vt:lpstr>Add a Slide Title - 4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ACT &amp; Optional Science: Counseling Implications</dc:title>
  <dc:creator>Joshua West</dc:creator>
  <cp:keywords/>
  <dcterms:created xsi:type="dcterms:W3CDTF">2025-11-19T07:14:22Z</dcterms:created>
  <dcterms:modified xsi:type="dcterms:W3CDTF">2025-11-19T07:14:22Z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2025-11-01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International College Counselors Team Briefing</vt:lpwstr>
  </property>
  <property fmtid="{D5CDD505-2E9C-101B-9397-08002B2CF9AE}" pid="11" name="toc-title">
    <vt:lpwstr>Table of contents</vt:lpwstr>
  </property>
</Properties>
</file>