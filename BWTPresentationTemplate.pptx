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 Slab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Proxima Nova"/>
      <p:regular r:id="rId23"/>
      <p:bold r:id="rId24"/>
      <p:italic r:id="rId25"/>
      <p:boldItalic r:id="rId26"/>
    </p:embeddedFont>
    <p:embeddedFont>
      <p:font typeface="Proxima Nova Extrabold"/>
      <p:bold r:id="rId27"/>
    </p:embeddedFont>
    <p:embeddedFont>
      <p:font typeface="Proxima Nova Semibold"/>
      <p:regular r:id="rId28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C14572-6D95-453C-935B-256CFAD7B09E}">
  <a:tblStyle styleId="{80C14572-6D95-453C-935B-256CFAD7B0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28" Type="http://schemas.openxmlformats.org/officeDocument/2006/relationships/font" Target="fonts/ProximaNovaSemibold-regular.fntdata"/><Relationship Id="rId27" Type="http://schemas.openxmlformats.org/officeDocument/2006/relationships/font" Target="fonts/ProximaNovaExtra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roximaNova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umwestern.edu/section/freshmen/#:~:text=To%20be%20admitted%20to%20the%20University%20of,for%20placement%20into%20math%20and%20writing%20courses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9da30f1d3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9da30f1d3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da13ac3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da13ac3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9da30f1d3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9da30f1d3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1f5767f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1f5767f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f5767f8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f5767f8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fe68204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fe68204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1f5767f8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1f5767f8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Snapshot of the PSAT score report looks like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Estimate of SAT score: if you took official SAT on that same day. Where it's not as reflective is for students who are scoring at the very low or very high end overall.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Your eyes may be going to the asterisked percentiles here – unique to each grade level. 10th grader with same score on a subsection as 11th grader on PSAT will likely have two different percentile ranks.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Score ranges: In standardize test design, the most accurate way to rep a student performance is to give you range, which is a confidence interval that considers the standard error of assessment.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Exact score is not always the midpoint of range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f5767f8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1f5767f8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Slightly useful info provided here.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Looks at the eight content domains.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Portion of section overall, how many questions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'power bar' gives you a quick look at how you did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And that's basically it!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Will you get all the questions you took? No. Will you get the ability to order those? No.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Those days are gone now that the SAT is digital adaptive – for test design &amp; security, they will not release test questions you took. </a:t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1f5767f83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1f5767f83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Slightly useful info provided here.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Looks at the eight content domains.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Portion of section overall, how many questions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'power bar' gives you a quick look at how you did 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And that's basically it!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Will you get all the questions you took? No. Will you get the ability to order those? No.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Those days are gone now that the SAT is digital adaptive – for test design &amp; security, they will not release test questions you took. </a:t>
            </a:r>
            <a:endParaRPr>
              <a:solidFill>
                <a:srgbClr val="222222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1f5767f83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1f5767f83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For the ACT, there are some additional decisions you’ll need to make now that the Science and Writing sections are optional.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Writing: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University of Montana Western requires ACT w/ writing score: </a:t>
            </a:r>
            <a:r>
              <a:rPr lang="en" sz="1400" u="sng">
                <a:solidFill>
                  <a:schemeClr val="hlink"/>
                </a:solidFill>
                <a:hlinkClick r:id="rId2"/>
              </a:rPr>
              <a:t>https://www.umwestern.edu/section/freshmen/#:~:text=To%20be%20admitted%20to%20the%20University%20of,for%20placement%20into%20math%20and%20writing%20courses</a:t>
            </a:r>
            <a:r>
              <a:rPr lang="en" sz="1400">
                <a:solidFill>
                  <a:schemeClr val="dk1"/>
                </a:solidFill>
              </a:rPr>
              <a:t>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Strong </a:t>
            </a:r>
            <a:r>
              <a:rPr lang="en" sz="1400">
                <a:solidFill>
                  <a:schemeClr val="dk1"/>
                </a:solidFill>
              </a:rPr>
              <a:t>Transcript</a:t>
            </a:r>
            <a:r>
              <a:rPr lang="en" sz="1400">
                <a:solidFill>
                  <a:schemeClr val="dk1"/>
                </a:solidFill>
              </a:rPr>
              <a:t>, Application Essays - other ways for students to showcase strong ELA skills on </a:t>
            </a:r>
            <a:r>
              <a:rPr lang="en" sz="1400">
                <a:solidFill>
                  <a:schemeClr val="dk1"/>
                </a:solidFill>
              </a:rPr>
              <a:t>college applications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3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6950" y="1092875"/>
            <a:ext cx="5830099" cy="31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50" y="4463550"/>
            <a:ext cx="1112651" cy="6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TITLE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C4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SUBTITLE</a:t>
            </a:r>
            <a:endParaRPr>
              <a:solidFill>
                <a:srgbClr val="AFC4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Nice to Meet You!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C4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Name</a:t>
            </a:r>
            <a:endParaRPr>
              <a:solidFill>
                <a:srgbClr val="AFC4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FC4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Title</a:t>
            </a:r>
            <a:endParaRPr sz="2000">
              <a:solidFill>
                <a:srgbClr val="AFC4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77" name="Google Shape;77;p15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50" y="4463550"/>
            <a:ext cx="1112651" cy="60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5615125" y="2340900"/>
            <a:ext cx="275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 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presenter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pic here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Title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C4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Subtitle</a:t>
            </a:r>
            <a:endParaRPr>
              <a:solidFill>
                <a:srgbClr val="AFC4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4875750" y="1590650"/>
            <a:ext cx="4157700" cy="1345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49DD2"/>
              </a:buClr>
              <a:buSzPts val="2500"/>
              <a:buFont typeface="Proxima Nova"/>
              <a:buChar char="●"/>
            </a:pPr>
            <a:r>
              <a:rPr lang="en" sz="2500">
                <a:solidFill>
                  <a:srgbClr val="449DD2"/>
                </a:solidFill>
                <a:latin typeface="Proxima Nova"/>
                <a:ea typeface="Proxima Nova"/>
                <a:cs typeface="Proxima Nova"/>
                <a:sym typeface="Proxima Nova"/>
              </a:rPr>
              <a:t>Stuff</a:t>
            </a:r>
            <a:endParaRPr sz="2500">
              <a:solidFill>
                <a:srgbClr val="449DD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9DD2"/>
              </a:buClr>
              <a:buSzPts val="2500"/>
              <a:buFont typeface="Proxima Nova"/>
              <a:buChar char="●"/>
            </a:pPr>
            <a:r>
              <a:rPr lang="en" sz="2500">
                <a:solidFill>
                  <a:srgbClr val="449DD2"/>
                </a:solidFill>
                <a:latin typeface="Proxima Nova"/>
                <a:ea typeface="Proxima Nova"/>
                <a:cs typeface="Proxima Nova"/>
                <a:sym typeface="Proxima Nova"/>
              </a:rPr>
              <a:t>and</a:t>
            </a:r>
            <a:endParaRPr sz="2500">
              <a:solidFill>
                <a:srgbClr val="449DD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9DD2"/>
              </a:buClr>
              <a:buSzPts val="2500"/>
              <a:buFont typeface="Proxima Nova"/>
              <a:buChar char="●"/>
            </a:pPr>
            <a:r>
              <a:rPr lang="en" sz="2500">
                <a:solidFill>
                  <a:srgbClr val="449DD2"/>
                </a:solidFill>
                <a:latin typeface="Proxima Nova"/>
                <a:ea typeface="Proxima Nova"/>
                <a:cs typeface="Proxima Nova"/>
                <a:sym typeface="Proxima Nova"/>
              </a:rPr>
              <a:t>Things</a:t>
            </a:r>
            <a:endParaRPr sz="2500">
              <a:solidFill>
                <a:srgbClr val="449DD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86" name="Google Shape;86;p16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50" y="4463550"/>
            <a:ext cx="1112651" cy="6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50" y="17225"/>
            <a:ext cx="9144000" cy="810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50" y="-1050"/>
            <a:ext cx="9144000" cy="8943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AFC5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Section Title</a:t>
            </a:r>
            <a:endParaRPr sz="3800">
              <a:solidFill>
                <a:srgbClr val="AFC5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93" name="Google Shape;93;p17"/>
          <p:cNvSpPr txBox="1"/>
          <p:nvPr>
            <p:ph type="title"/>
          </p:nvPr>
        </p:nvSpPr>
        <p:spPr>
          <a:xfrm>
            <a:off x="106550" y="827225"/>
            <a:ext cx="8931000" cy="7557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49DD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Subtitle </a:t>
            </a:r>
            <a:endParaRPr sz="2500">
              <a:solidFill>
                <a:srgbClr val="449DD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94" name="Google Shape;94;p17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2" y="4621850"/>
            <a:ext cx="811676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3192750" y="2340900"/>
            <a:ext cx="2758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 image, graphic, infographic, etc.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subTitle"/>
          </p:nvPr>
        </p:nvSpPr>
        <p:spPr>
          <a:xfrm>
            <a:off x="4761300" y="2644010"/>
            <a:ext cx="4045200" cy="1345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FC554"/>
                </a:solidFill>
                <a:latin typeface="Proxima Nova"/>
                <a:ea typeface="Proxima Nova"/>
                <a:cs typeface="Proxima Nova"/>
                <a:sym typeface="Proxima Nova"/>
              </a:rPr>
              <a:t>Weeeee</a:t>
            </a:r>
            <a:endParaRPr i="1" sz="1600">
              <a:solidFill>
                <a:srgbClr val="AFC55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1" name="Google Shape;101;p18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2" y="4621850"/>
            <a:ext cx="811676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>
            <p:ph type="title"/>
          </p:nvPr>
        </p:nvSpPr>
        <p:spPr>
          <a:xfrm>
            <a:off x="4761300" y="1060150"/>
            <a:ext cx="4045200" cy="15063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9DD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AHWIEH</a:t>
            </a:r>
            <a:endParaRPr>
              <a:solidFill>
                <a:srgbClr val="449DD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subTitle"/>
          </p:nvPr>
        </p:nvSpPr>
        <p:spPr>
          <a:xfrm>
            <a:off x="4761300" y="2644010"/>
            <a:ext cx="4045200" cy="1345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AFC554"/>
              </a:buClr>
              <a:buSzPts val="1700"/>
              <a:buFont typeface="Proxima Nova"/>
              <a:buChar char="●"/>
            </a:pPr>
            <a:r>
              <a:rPr lang="en" sz="1700">
                <a:solidFill>
                  <a:srgbClr val="AFC554"/>
                </a:solidFill>
                <a:latin typeface="Proxima Nova"/>
                <a:ea typeface="Proxima Nova"/>
                <a:cs typeface="Proxima Nova"/>
                <a:sym typeface="Proxima Nova"/>
              </a:rPr>
              <a:t>Bulleted info </a:t>
            </a:r>
            <a:endParaRPr sz="1700">
              <a:solidFill>
                <a:srgbClr val="AFC55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8" name="Google Shape;108;p19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2" y="4621850"/>
            <a:ext cx="811676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type="title"/>
          </p:nvPr>
        </p:nvSpPr>
        <p:spPr>
          <a:xfrm>
            <a:off x="4761300" y="1060150"/>
            <a:ext cx="4045200" cy="15063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49DD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AWHEH</a:t>
            </a:r>
            <a:endParaRPr>
              <a:solidFill>
                <a:srgbClr val="449DD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/>
          <p:nvPr/>
        </p:nvSpPr>
        <p:spPr>
          <a:xfrm>
            <a:off x="50" y="17225"/>
            <a:ext cx="9144000" cy="810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50" y="-1050"/>
            <a:ext cx="9144000" cy="8943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AFC5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Section Title</a:t>
            </a:r>
            <a:endParaRPr sz="3800">
              <a:solidFill>
                <a:srgbClr val="AFC5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6" name="Google Shape;116;p20"/>
          <p:cNvSpPr txBox="1"/>
          <p:nvPr>
            <p:ph type="title"/>
          </p:nvPr>
        </p:nvSpPr>
        <p:spPr>
          <a:xfrm>
            <a:off x="106825" y="1117175"/>
            <a:ext cx="4686300" cy="7557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49DD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Subtitle/heading</a:t>
            </a:r>
            <a:endParaRPr sz="2500">
              <a:solidFill>
                <a:srgbClr val="449DD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17" name="Google Shape;117;p20"/>
          <p:cNvSpPr txBox="1"/>
          <p:nvPr>
            <p:ph idx="4294967295" type="subTitle"/>
          </p:nvPr>
        </p:nvSpPr>
        <p:spPr>
          <a:xfrm>
            <a:off x="106825" y="2096801"/>
            <a:ext cx="4007400" cy="1808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C554"/>
                </a:solidFill>
                <a:latin typeface="Proxima Nova"/>
                <a:ea typeface="Proxima Nova"/>
                <a:cs typeface="Proxima Nova"/>
                <a:sym typeface="Proxima Nova"/>
              </a:rPr>
              <a:t>More info</a:t>
            </a:r>
            <a:endParaRPr>
              <a:solidFill>
                <a:srgbClr val="AFC55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AFC554"/>
              </a:buClr>
              <a:buSzPts val="1400"/>
              <a:buFont typeface="Proxima Nova"/>
              <a:buChar char="●"/>
            </a:pPr>
            <a:r>
              <a:rPr i="1" lang="en" sz="1400">
                <a:solidFill>
                  <a:srgbClr val="AFC554"/>
                </a:solidFill>
                <a:latin typeface="Proxima Nova"/>
                <a:ea typeface="Proxima Nova"/>
                <a:cs typeface="Proxima Nova"/>
                <a:sym typeface="Proxima Nova"/>
              </a:rPr>
              <a:t>Bulleted info?</a:t>
            </a:r>
            <a:endParaRPr i="1" sz="1400">
              <a:solidFill>
                <a:srgbClr val="AFC55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8" name="Google Shape;118;p20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2" y="4621850"/>
            <a:ext cx="811676" cy="4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50" y="17225"/>
            <a:ext cx="9144000" cy="810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50" y="-1050"/>
            <a:ext cx="9144000" cy="8943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AFC5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Section Title</a:t>
            </a:r>
            <a:endParaRPr sz="3800">
              <a:solidFill>
                <a:srgbClr val="AFC5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pic>
        <p:nvPicPr>
          <p:cNvPr id="125" name="Google Shape;125;p21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2" y="4621850"/>
            <a:ext cx="811676" cy="438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" name="Google Shape;126;p21"/>
          <p:cNvGraphicFramePr/>
          <p:nvPr/>
        </p:nvGraphicFramePr>
        <p:xfrm>
          <a:off x="675650" y="10893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{80C14572-6D95-453C-935B-256CFAD7B09E}</a:tableStyleId>
              </a:tblPr>
              <a:tblGrid>
                <a:gridCol w="1761025"/>
                <a:gridCol w="3080575"/>
                <a:gridCol w="2951200"/>
              </a:tblGrid>
              <a:tr h="53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449DD2"/>
                          </a:solidFill>
                          <a:latin typeface="Proxima Nova Extrabold"/>
                          <a:ea typeface="Proxima Nova Extrabold"/>
                          <a:cs typeface="Proxima Nova Extrabold"/>
                          <a:sym typeface="Proxima Nova Extrabold"/>
                        </a:rPr>
                        <a:t>Column 1</a:t>
                      </a:r>
                      <a:endParaRPr sz="2000">
                        <a:solidFill>
                          <a:srgbClr val="449DD2"/>
                        </a:solidFill>
                        <a:latin typeface="Proxima Nova Extrabold"/>
                        <a:ea typeface="Proxima Nova Extrabold"/>
                        <a:cs typeface="Proxima Nova Extrabold"/>
                        <a:sym typeface="Proxima Nova Extrabold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rgbClr val="449DD2"/>
                          </a:solidFill>
                          <a:latin typeface="Proxima Nova Extrabold"/>
                          <a:ea typeface="Proxima Nova Extrabold"/>
                          <a:cs typeface="Proxima Nova Extrabold"/>
                          <a:sym typeface="Proxima Nova Extrabold"/>
                        </a:rPr>
                        <a:t>Column 2</a:t>
                      </a:r>
                      <a:endParaRPr sz="2000">
                        <a:solidFill>
                          <a:srgbClr val="449DD2"/>
                        </a:solidFill>
                        <a:latin typeface="Proxima Nova Extrabold"/>
                        <a:ea typeface="Proxima Nova Extrabold"/>
                        <a:cs typeface="Proxima Nova Extrabold"/>
                        <a:sym typeface="Proxima Nova Extrabold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AFC554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Row</a:t>
                      </a:r>
                      <a:endParaRPr b="1">
                        <a:solidFill>
                          <a:srgbClr val="AFC554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info!</a:t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4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AFC554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Row</a:t>
                      </a:r>
                      <a:endParaRPr b="1">
                        <a:solidFill>
                          <a:srgbClr val="AFC554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info!</a:t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464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AFC554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Row</a:t>
                      </a:r>
                      <a:endParaRPr b="1">
                        <a:solidFill>
                          <a:srgbClr val="AFC554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4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AFC554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Row</a:t>
                      </a:r>
                      <a:endParaRPr b="1">
                        <a:solidFill>
                          <a:srgbClr val="AFC554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4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AFC554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Row</a:t>
                      </a:r>
                      <a:endParaRPr b="1">
                        <a:solidFill>
                          <a:srgbClr val="AFC554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  <a:tr h="43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AFC554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Row</a:t>
                      </a:r>
                      <a:endParaRPr b="1">
                        <a:solidFill>
                          <a:srgbClr val="AFC554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/>
          <p:nvPr/>
        </p:nvSpPr>
        <p:spPr>
          <a:xfrm>
            <a:off x="50" y="17225"/>
            <a:ext cx="9144000" cy="810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22"/>
          <p:cNvSpPr txBox="1"/>
          <p:nvPr>
            <p:ph type="title"/>
          </p:nvPr>
        </p:nvSpPr>
        <p:spPr>
          <a:xfrm>
            <a:off x="50" y="-1050"/>
            <a:ext cx="9144000" cy="894300"/>
          </a:xfrm>
          <a:prstGeom prst="rect">
            <a:avLst/>
          </a:prstGeom>
          <a:noFill/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AFC5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Section Title</a:t>
            </a:r>
            <a:endParaRPr sz="3800">
              <a:solidFill>
                <a:srgbClr val="AFC5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106825" y="1024750"/>
            <a:ext cx="8452200" cy="755700"/>
          </a:xfrm>
          <a:prstGeom prst="rect">
            <a:avLst/>
          </a:prstGeom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449DD2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Subtitle/header</a:t>
            </a:r>
            <a:endParaRPr sz="2500">
              <a:solidFill>
                <a:srgbClr val="449DD2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34" name="Google Shape;134;p22"/>
          <p:cNvSpPr txBox="1"/>
          <p:nvPr>
            <p:ph idx="4294967295" type="subTitle"/>
          </p:nvPr>
        </p:nvSpPr>
        <p:spPr>
          <a:xfrm>
            <a:off x="4572625" y="1911950"/>
            <a:ext cx="4465800" cy="1808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FC5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Another Idea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Proxima Nova"/>
              <a:buChar char="❏"/>
            </a:pP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Fun 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5" name="Google Shape;135;p22" title="BWT-logo-600w-no_mar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2" y="4621850"/>
            <a:ext cx="811676" cy="4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2"/>
          <p:cNvSpPr txBox="1"/>
          <p:nvPr>
            <p:ph idx="4294967295" type="subTitle"/>
          </p:nvPr>
        </p:nvSpPr>
        <p:spPr>
          <a:xfrm>
            <a:off x="106825" y="1911946"/>
            <a:ext cx="4465800" cy="1808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FC554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One Idea</a:t>
            </a:r>
            <a:endParaRPr sz="2000">
              <a:solidFill>
                <a:srgbClr val="AFC554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Font typeface="Proxima Nova"/>
              <a:buChar char="❏"/>
            </a:pP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List of stuff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